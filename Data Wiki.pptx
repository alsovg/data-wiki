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Представиться. Одной фразой: сервис, который принимает Markdown-заметки и находит по ним самое релевантное.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Знакомая ситуация: заметок сотни, лежат где попало. Ctrl+F ищет точное совпадение и не ранжирует результаты. А при правке теряется старый текст.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пользователя: загрузил — сервис разобрал и проиндексировал — ищешь по смыслу слов. Плюс фильтры, статистика, версии и ссылки на просмотр или редактирование.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пройтись по экранам; подробнее — в демо-видео.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Запрос идёт через nginx в приложение. PostgreSQL — источник истины, Lucene — только поиск, его всегда можно пересобрать из базы. Redis кэширует повторные запросы. Всё поднимается одной командой docker compose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Формулы не выносим на слайд — они в docs/scoring.md. Главное: редкое слово важнее частого, короткий документ с совпадением выше длинного, заголовок весит больше текста. Методы реализуют общий интерфейс и регистрируются по имени.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из docs/benchmark.md. 267 мс — это первый запрос с прогревом JVM; повторные идут из кэша Redis. Ключи кэша включают id пользователя, любое изменение документа инвалидирует связанные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Интеграционные тесты идут на Testcontainers — настоящие PostgreSQL и Redis в Docker, без моков.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Ограничения осознанные и описаны в System Design. Индекс можно пересобрать из PostgreSQL, поэтому переход на распределённый поиск не требует миграции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Подвести итог одной фразой и включить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180000">
            <a:off x="7112000" y="953740"/>
            <a:ext cx="3175000" cy="1295400"/>
          </a:xfrm>
          <a:prstGeom prst="roundRect">
            <a:avLst>
              <a:gd name="adj" fmla="val 9804"/>
            </a:avLst>
          </a:prstGeom>
          <a:solidFill>
            <a:srgbClr val="262C38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 rot="21180000">
            <a:off x="7304698" y="1179549"/>
            <a:ext cx="27993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3AAB5">
                    <a:alpha val="90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meeting-notes.md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rot="21180000">
            <a:off x="7338018" y="1545281"/>
            <a:ext cx="2413000" cy="88900"/>
          </a:xfrm>
          <a:prstGeom prst="roundRect">
            <a:avLst>
              <a:gd name="adj" fmla="val 50000"/>
            </a:avLst>
          </a:prstGeom>
          <a:solidFill>
            <a:srgbClr val="3E4553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21180000">
            <a:off x="7364675" y="1777921"/>
            <a:ext cx="1905000" cy="88900"/>
          </a:xfrm>
          <a:prstGeom prst="roundRect">
            <a:avLst>
              <a:gd name="adj" fmla="val 50000"/>
            </a:avLst>
          </a:prstGeom>
          <a:solidFill>
            <a:srgbClr val="3E4553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21180000">
            <a:off x="7388492" y="1964129"/>
            <a:ext cx="2159000" cy="88900"/>
          </a:xfrm>
          <a:prstGeom prst="roundRect">
            <a:avLst>
              <a:gd name="adj" fmla="val 50000"/>
            </a:avLst>
          </a:prstGeom>
          <a:solidFill>
            <a:srgbClr val="3E4553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240000">
            <a:off x="7747000" y="2031950"/>
            <a:ext cx="3302000" cy="1701800"/>
          </a:xfrm>
          <a:prstGeom prst="roundRect">
            <a:avLst>
              <a:gd name="adj" fmla="val 7463"/>
            </a:avLst>
          </a:prstGeom>
          <a:solidFill>
            <a:srgbClr val="F5F4EF"/>
          </a:solidFill>
          <a:ln/>
          <a:effectLst>
            <a:outerShdw sx="100000" sy="100000" kx="0" ky="0" algn="bl" rotWithShape="0" blurRad="406400" dist="152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 rot="240000">
            <a:off x="8033586" y="2291305"/>
            <a:ext cx="28778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## Поиск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240000">
            <a:off x="8015750" y="2623026"/>
            <a:ext cx="2540000" cy="88900"/>
          </a:xfrm>
          <a:prstGeom prst="roundRect">
            <a:avLst>
              <a:gd name="adj" fmla="val 50000"/>
            </a:avLst>
          </a:prstGeom>
          <a:solidFill>
            <a:srgbClr val="D9D6CC"/>
          </a:solidFill>
          <a:ln/>
        </p:spPr>
      </p:sp>
      <p:sp>
        <p:nvSpPr>
          <p:cNvPr id="10" name="Shape 8"/>
          <p:cNvSpPr/>
          <p:nvPr/>
        </p:nvSpPr>
        <p:spPr>
          <a:xfrm rot="240000">
            <a:off x="7998594" y="2836230"/>
            <a:ext cx="698500" cy="88900"/>
          </a:xfrm>
          <a:prstGeom prst="roundRect">
            <a:avLst>
              <a:gd name="adj" fmla="val 50000"/>
            </a:avLst>
          </a:prstGeom>
          <a:solidFill>
            <a:srgbClr val="D9D6CC"/>
          </a:solidFill>
          <a:ln/>
        </p:spPr>
      </p:sp>
      <p:sp>
        <p:nvSpPr>
          <p:cNvPr id="11" name="Text 9"/>
          <p:cNvSpPr/>
          <p:nvPr/>
        </p:nvSpPr>
        <p:spPr>
          <a:xfrm rot="240000">
            <a:off x="8771299" y="2835599"/>
            <a:ext cx="1314450" cy="241300"/>
          </a:xfrm>
          <a:prstGeom prst="roundRect">
            <a:avLst>
              <a:gd name="adj" fmla="val 15789"/>
            </a:avLst>
          </a:prstGeom>
          <a:solidFill>
            <a:srgbClr val="FFD84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релевантность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240000">
            <a:off x="10160265" y="2978508"/>
            <a:ext cx="444500" cy="88900"/>
          </a:xfrm>
          <a:prstGeom prst="roundRect">
            <a:avLst>
              <a:gd name="adj" fmla="val 50000"/>
            </a:avLst>
          </a:prstGeom>
          <a:solidFill>
            <a:srgbClr val="D9D6CC"/>
          </a:solidFill>
          <a:ln/>
        </p:spPr>
      </p:sp>
      <p:sp>
        <p:nvSpPr>
          <p:cNvPr id="13" name="Shape 11"/>
          <p:cNvSpPr/>
          <p:nvPr/>
        </p:nvSpPr>
        <p:spPr>
          <a:xfrm rot="240000">
            <a:off x="7977260" y="3169032"/>
            <a:ext cx="2286000" cy="88900"/>
          </a:xfrm>
          <a:prstGeom prst="roundRect">
            <a:avLst>
              <a:gd name="adj" fmla="val 50000"/>
            </a:avLst>
          </a:prstGeom>
          <a:solidFill>
            <a:srgbClr val="D9D6CC"/>
          </a:solidFill>
          <a:ln/>
        </p:spPr>
      </p:sp>
      <p:sp>
        <p:nvSpPr>
          <p:cNvPr id="14" name="Shape 12"/>
          <p:cNvSpPr/>
          <p:nvPr/>
        </p:nvSpPr>
        <p:spPr>
          <a:xfrm rot="240000">
            <a:off x="7963936" y="3347375"/>
            <a:ext cx="1587500" cy="88900"/>
          </a:xfrm>
          <a:prstGeom prst="roundRect">
            <a:avLst>
              <a:gd name="adj" fmla="val 50000"/>
            </a:avLst>
          </a:prstGeom>
          <a:solidFill>
            <a:srgbClr val="D9D6CC"/>
          </a:solidFill>
          <a:ln/>
        </p:spPr>
      </p:sp>
      <p:sp>
        <p:nvSpPr>
          <p:cNvPr id="15" name="Shape 13"/>
          <p:cNvSpPr/>
          <p:nvPr/>
        </p:nvSpPr>
        <p:spPr>
          <a:xfrm>
            <a:off x="6921500" y="4381500"/>
            <a:ext cx="3937000" cy="568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04800" dist="1016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24700" y="4526260"/>
            <a:ext cx="279400" cy="279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05700" y="4541540"/>
            <a:ext cx="25533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версии документов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86280" y="4521200"/>
            <a:ext cx="569020" cy="289520"/>
          </a:xfrm>
          <a:custGeom>
            <a:avLst/>
            <a:gdLst/>
            <a:ahLst/>
            <a:cxnLst/>
            <a:rect l="l" t="t" r="r" b="b"/>
            <a:pathLst>
              <a:path w="569020" h="289520">
                <a:moveTo>
                  <a:pt x="144760" y="0"/>
                </a:moveTo>
                <a:lnTo>
                  <a:pt x="424259" y="0"/>
                </a:lnTo>
                <a:arcTo hR="144760" wR="144760" stAng="16200000" swAng="5400000"/>
                <a:lnTo>
                  <a:pt x="569020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2A5BD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BM25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F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~/notes $ datawiki search</a:t>
            </a:r>
            <a:endParaRPr lang="en-US" sz="1300" dirty="0"/>
          </a:p>
        </p:txBody>
      </p:sp>
      <p:sp>
        <p:nvSpPr>
          <p:cNvPr id="20" name="Text 17"/>
          <p:cNvSpPr/>
          <p:nvPr>
            <p:ph type="title"/>
          </p:nvPr>
        </p:nvSpPr>
        <p:spPr>
          <a:xfrm>
            <a:off x="812800" y="2333129"/>
            <a:ext cx="58864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800"/>
              </a:lnSpc>
              <a:buNone/>
            </a:pPr>
            <a:r>
              <a:rPr lang="en-US" sz="8800" b="1" i="0" spc="-200" kern="0" dirty="0">
                <a:solidFill>
                  <a:srgbClr val="EEF0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Wiki</a:t>
            </a:r>
            <a:endParaRPr lang="en-US" sz="8800" dirty="0"/>
          </a:p>
        </p:txBody>
      </p:sp>
      <p:sp>
        <p:nvSpPr>
          <p:cNvPr id="21" name="Text 18"/>
          <p:cNvSpPr/>
          <p:nvPr/>
        </p:nvSpPr>
        <p:spPr>
          <a:xfrm>
            <a:off x="812800" y="3653929"/>
            <a:ext cx="588645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EEF0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Личная база знаний</a:t>
            </a:r>
            <a:endParaRPr lang="en-US" sz="28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7FA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умным поиском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3AA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[Автор] · [Дата] · [Курс / кейс]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ПРОБЛЕМА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Заметки есть, найти нельзя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361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47800" y="1935361"/>
            <a:ext cx="470916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Файлы копятся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7800" y="2260402"/>
            <a:ext cx="470916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Заметки и документация разбросаны по папкам, архивам и форматам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38584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47800" y="3385840"/>
            <a:ext cx="470916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не находит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7800" y="3710880"/>
            <a:ext cx="470916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Имя файла и Ctrl+F не помогают; нет понятия «самое релевантное»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836319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47800" y="4836319"/>
            <a:ext cx="470916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Правки затирают историю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7800" y="5161359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Прошлую версию заметки уже не вернуть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600" y="1935361"/>
            <a:ext cx="5054600" cy="3474839"/>
          </a:xfrm>
          <a:prstGeom prst="roundRect">
            <a:avLst>
              <a:gd name="adj" fmla="val 4386"/>
            </a:avLst>
          </a:prstGeom>
          <a:solidFill>
            <a:srgbClr val="EBE9E1"/>
          </a:solidFill>
          <a:ln/>
        </p:spPr>
      </p:sp>
      <p:sp>
        <p:nvSpPr>
          <p:cNvPr id="14" name="Text 12"/>
          <p:cNvSpPr/>
          <p:nvPr/>
        </p:nvSpPr>
        <p:spPr>
          <a:xfrm rot="21240000">
            <a:off x="6683375" y="2193776"/>
            <a:ext cx="120015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706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notes.md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 rot="240000">
            <a:off x="8423275" y="2384276"/>
            <a:ext cx="196215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452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todo_final_v2.md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 rot="180000">
            <a:off x="7026275" y="2987526"/>
            <a:ext cx="177165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706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архив-2025.zip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 rot="21300000">
            <a:off x="9185275" y="3146276"/>
            <a:ext cx="167640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706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readme (1).md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 rot="21480000">
            <a:off x="6581775" y="3654276"/>
            <a:ext cx="139065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706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встреча.md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 rot="360000">
            <a:off x="8486775" y="3781276"/>
            <a:ext cx="1581150" cy="387350"/>
          </a:xfrm>
          <a:prstGeom prst="roundRect">
            <a:avLst>
              <a:gd name="adj" fmla="val 15574"/>
            </a:avLst>
          </a:prstGeom>
          <a:solidFill>
            <a:srgbClr val="FFFDF7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none" lIns="112506" tIns="61706" rIns="61706" bIns="36306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draft-old.md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1775" y="4600575"/>
            <a:ext cx="4540250" cy="55245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6350">
            <a:solidFill>
              <a:srgbClr val="D9D6C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2750" y="4749800"/>
            <a:ext cx="254000" cy="254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18350" y="4752380"/>
            <a:ext cx="326759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пересобрать индекс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392370" y="4770140"/>
            <a:ext cx="6584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5530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из 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12800" y="571500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Нужен сервис, который сам разберёт заметки и покажет самое релевантное.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СЕРВИС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делает сервис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943100" y="197504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5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46300" y="2178248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5525" y="2825948"/>
            <a:ext cx="195714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Файл, папка, архив</a:t>
            </a:r>
            <a:endParaRPr lang="en-US" sz="1400" dirty="0"/>
          </a:p>
        </p:txBody>
      </p:sp>
      <p:pic>
        <p:nvPicPr>
          <p:cNvPr id="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4850" y="2317948"/>
            <a:ext cx="673100" cy="76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57700" y="197504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9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0900" y="2178248"/>
            <a:ext cx="355600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16204" y="2825948"/>
            <a:ext cx="184499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Разбор Markdown</a:t>
            </a:r>
            <a:endParaRPr lang="en-US" sz="1400" dirty="0"/>
          </a:p>
        </p:txBody>
      </p:sp>
      <p:pic>
        <p:nvPicPr>
          <p:cNvPr id="11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59450" y="2317948"/>
            <a:ext cx="673100" cy="762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972300" y="197504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13" name="Image 4" descr="Databa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75500" y="2178248"/>
            <a:ext cx="355600" cy="355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67180" y="2825948"/>
            <a:ext cx="7722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Индекс</a:t>
            </a:r>
            <a:endParaRPr lang="en-US" sz="1400" dirty="0"/>
          </a:p>
        </p:txBody>
      </p:sp>
      <p:pic>
        <p:nvPicPr>
          <p:cNvPr id="1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74050" y="2317948"/>
            <a:ext cx="673100" cy="762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9486900" y="1975048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2A5BD7"/>
          </a:solidFill>
          <a:ln/>
          <a:effectLst>
            <a:outerShdw sx="100000" sy="100000" kx="0" ky="0" algn="bl" rotWithShape="0" blurRad="203200" dist="76200" dir="5400000">
              <a:srgbClr val="2A5BD7">
                <a:alpha val="30000"/>
              </a:srgbClr>
            </a:outerShdw>
          </a:effectLst>
        </p:spPr>
      </p:sp>
      <p:pic>
        <p:nvPicPr>
          <p:cNvPr id="17" name="Image 6" descr="Search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90100" y="2178248"/>
            <a:ext cx="355600" cy="355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827780" y="2825948"/>
            <a:ext cx="208014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с подсветкой</a:t>
            </a:r>
            <a:endParaRPr lang="en-US" sz="1400" dirty="0"/>
          </a:p>
        </p:txBody>
      </p:sp>
      <p:sp>
        <p:nvSpPr>
          <p:cNvPr id="19" name="Shape 10"/>
          <p:cNvSpPr/>
          <p:nvPr/>
        </p:nvSpPr>
        <p:spPr>
          <a:xfrm>
            <a:off x="815975" y="3422452"/>
            <a:ext cx="5175250" cy="1205012"/>
          </a:xfrm>
          <a:prstGeom prst="roundRect">
            <a:avLst>
              <a:gd name="adj" fmla="val 8168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0" name="Shape 11"/>
          <p:cNvSpPr/>
          <p:nvPr/>
        </p:nvSpPr>
        <p:spPr>
          <a:xfrm>
            <a:off x="1047750" y="3628827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21" name="Image 7" descr="Cloud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136650" y="3717727"/>
            <a:ext cx="228600" cy="2286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606550" y="3628827"/>
            <a:ext cx="42774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Загрузка без подготовки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1606550" y="3923407"/>
            <a:ext cx="42774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Сервис сам разбирает текст и метаданные</a:t>
            </a:r>
            <a:endParaRPr lang="en-US" sz="1400" dirty="0"/>
          </a:p>
        </p:txBody>
      </p:sp>
      <p:sp>
        <p:nvSpPr>
          <p:cNvPr id="24" name="Shape 14"/>
          <p:cNvSpPr/>
          <p:nvPr/>
        </p:nvSpPr>
        <p:spPr>
          <a:xfrm>
            <a:off x="6200775" y="3422452"/>
            <a:ext cx="5175250" cy="1205012"/>
          </a:xfrm>
          <a:prstGeom prst="roundRect">
            <a:avLst>
              <a:gd name="adj" fmla="val 8168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6432550" y="3628827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26" name="Image 8" descr="Search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21450" y="3717727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91350" y="3628827"/>
            <a:ext cx="42774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по содержанию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6991350" y="3923407"/>
            <a:ext cx="427748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словам, а не по имени файла; по релевантности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815975" y="4837013"/>
            <a:ext cx="5175250" cy="1205012"/>
          </a:xfrm>
          <a:prstGeom prst="roundRect">
            <a:avLst>
              <a:gd name="adj" fmla="val 8168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047750" y="5043388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31" name="Image 9" descr="Chart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136650" y="5132288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606550" y="5043388"/>
            <a:ext cx="42774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Фильтры и статистика</a:t>
            </a:r>
            <a:endParaRPr lang="en-US" sz="1600" dirty="0"/>
          </a:p>
        </p:txBody>
      </p:sp>
      <p:sp>
        <p:nvSpPr>
          <p:cNvPr id="33" name="Text 21"/>
          <p:cNvSpPr/>
          <p:nvPr/>
        </p:nvSpPr>
        <p:spPr>
          <a:xfrm>
            <a:off x="1606550" y="5337969"/>
            <a:ext cx="42774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Теги, категории, авторы, даты; сводка по базе</a:t>
            </a:r>
            <a:endParaRPr lang="en-US" sz="1400" dirty="0"/>
          </a:p>
        </p:txBody>
      </p:sp>
      <p:sp>
        <p:nvSpPr>
          <p:cNvPr id="34" name="Shape 22"/>
          <p:cNvSpPr/>
          <p:nvPr/>
        </p:nvSpPr>
        <p:spPr>
          <a:xfrm>
            <a:off x="6200775" y="4837013"/>
            <a:ext cx="5175250" cy="1205012"/>
          </a:xfrm>
          <a:prstGeom prst="roundRect">
            <a:avLst>
              <a:gd name="adj" fmla="val 8168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6432550" y="5043388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36" name="Image 10" descr="Clock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521450" y="5132288"/>
            <a:ext cx="228600" cy="2286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991350" y="5043388"/>
            <a:ext cx="427748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Версии и шаринг</a:t>
            </a:r>
            <a:endParaRPr lang="en-US" sz="1600" dirty="0"/>
          </a:p>
        </p:txBody>
      </p:sp>
      <p:sp>
        <p:nvSpPr>
          <p:cNvPr id="38" name="Text 25"/>
          <p:cNvSpPr/>
          <p:nvPr/>
        </p:nvSpPr>
        <p:spPr>
          <a:xfrm>
            <a:off x="6991350" y="5337969"/>
            <a:ext cx="427748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правка — версия; свои документы, доступ по ссылке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ИНТЕРФЕЙС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выглядит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5962650" cy="3028950"/>
          </a:xfrm>
          <a:prstGeom prst="roundRect">
            <a:avLst>
              <a:gd name="adj" fmla="val 3249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  <a:effectLst>
            <a:outerShdw sx="100000" sy="100000" kx="0" ky="0" algn="bl" rotWithShape="0" blurRad="254000" dist="76200" dir="5400000">
              <a:srgbClr val="161A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9150" y="1941711"/>
            <a:ext cx="5956300" cy="228600"/>
          </a:xfrm>
          <a:custGeom>
            <a:avLst/>
            <a:gdLst/>
            <a:ahLst/>
            <a:cxnLst/>
            <a:rect l="l" t="t" r="r" b="b"/>
            <a:pathLst>
              <a:path w="5956300" h="228600">
                <a:moveTo>
                  <a:pt x="0" y="95250"/>
                </a:moveTo>
                <a:arcTo hR="95250" wR="95250" stAng="10800000" swAng="5400000"/>
                <a:lnTo>
                  <a:pt x="5861050" y="0"/>
                </a:lnTo>
                <a:arcTo hR="95250" wR="95250" stAng="16200000" swAng="5400000"/>
                <a:lnTo>
                  <a:pt x="5956300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ECEBE5"/>
          </a:solidFill>
          <a:ln/>
        </p:spPr>
      </p:sp>
      <p:sp>
        <p:nvSpPr>
          <p:cNvPr id="6" name="Shape 4"/>
          <p:cNvSpPr/>
          <p:nvPr/>
        </p:nvSpPr>
        <p:spPr>
          <a:xfrm>
            <a:off x="920750" y="2017911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017911"/>
            <a:ext cx="76200" cy="762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/>
        </p:spPr>
      </p:sp>
      <p:sp>
        <p:nvSpPr>
          <p:cNvPr id="8" name="Shape 6"/>
          <p:cNvSpPr/>
          <p:nvPr/>
        </p:nvSpPr>
        <p:spPr>
          <a:xfrm>
            <a:off x="1174750" y="2017911"/>
            <a:ext cx="76200" cy="76200"/>
          </a:xfrm>
          <a:prstGeom prst="roundRect">
            <a:avLst>
              <a:gd name="adj" fmla="val 50000"/>
            </a:avLst>
          </a:prstGeom>
          <a:solidFill>
            <a:srgbClr val="5FB36A"/>
          </a:solidFill>
          <a:ln/>
        </p:spPr>
      </p:sp>
      <p:sp>
        <p:nvSpPr>
          <p:cNvPr id="9" name="Shape 7"/>
          <p:cNvSpPr/>
          <p:nvPr/>
        </p:nvSpPr>
        <p:spPr>
          <a:xfrm>
            <a:off x="819150" y="2170311"/>
            <a:ext cx="5969000" cy="2794000"/>
          </a:xfrm>
          <a:custGeom>
            <a:avLst/>
            <a:gdLst/>
            <a:ahLst/>
            <a:cxnLst/>
            <a:rect l="l" t="t" r="r" b="b"/>
            <a:pathLst>
              <a:path w="5969000" h="2794000">
                <a:moveTo>
                  <a:pt x="95250" y="2794000"/>
                </a:moveTo>
                <a:arcTo hR="95250" wR="95250" stAng="5400000" swAng="5400000"/>
                <a:lnTo>
                  <a:pt x="0" y="0"/>
                </a:lnTo>
                <a:lnTo>
                  <a:pt x="5969000" y="0"/>
                </a:lnTo>
                <a:lnTo>
                  <a:pt x="5969000" y="2794000"/>
                </a:lnTo>
                <a:close/>
              </a:path>
            </a:pathLst>
          </a:custGeom>
          <a:solidFill>
            <a:srgbClr val="E4E2DA"/>
          </a:solidFill>
          <a:ln/>
        </p:spPr>
      </p:sp>
      <p:sp>
        <p:nvSpPr>
          <p:cNvPr id="10" name="Text 8"/>
          <p:cNvSpPr/>
          <p:nvPr/>
        </p:nvSpPr>
        <p:spPr>
          <a:xfrm>
            <a:off x="812800" y="5097661"/>
            <a:ext cx="646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59012" y="5104011"/>
            <a:ext cx="5627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запрос → документы по релевантности, совпадения подсвечены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9775" y="1938536"/>
            <a:ext cx="19113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  <a:effectLst>
            <a:outerShdw sx="100000" sy="100000" kx="0" ky="0" algn="bl" rotWithShape="0" blurRad="152400" dist="50800" dir="5400000">
              <a:srgbClr val="161A22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92950" y="1941711"/>
            <a:ext cx="1905000" cy="165100"/>
          </a:xfrm>
          <a:custGeom>
            <a:avLst/>
            <a:gdLst/>
            <a:ahLst/>
            <a:cxnLst/>
            <a:rect l="l" t="t" r="r" b="b"/>
            <a:pathLst>
              <a:path w="1905000" h="165100">
                <a:moveTo>
                  <a:pt x="0" y="69850"/>
                </a:moveTo>
                <a:arcTo hR="69850" wR="69850" stAng="10800000" swAng="5400000"/>
                <a:lnTo>
                  <a:pt x="1835150" y="0"/>
                </a:lnTo>
                <a:arcTo hR="69850" wR="69850" stAng="16200000" swAng="5400000"/>
                <a:lnTo>
                  <a:pt x="1905000" y="165100"/>
                </a:lnTo>
                <a:lnTo>
                  <a:pt x="0" y="165100"/>
                </a:lnTo>
                <a:close/>
              </a:path>
            </a:pathLst>
          </a:custGeom>
          <a:solidFill>
            <a:srgbClr val="ECEB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169150" y="1992511"/>
            <a:ext cx="63500" cy="635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270750" y="1992511"/>
            <a:ext cx="63500" cy="635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72350" y="1992511"/>
            <a:ext cx="63500" cy="63500"/>
          </a:xfrm>
          <a:prstGeom prst="roundRect">
            <a:avLst>
              <a:gd name="adj" fmla="val 50000"/>
            </a:avLst>
          </a:prstGeom>
          <a:solidFill>
            <a:srgbClr val="5FB36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92950" y="2106811"/>
            <a:ext cx="1905000" cy="1016000"/>
          </a:xfrm>
          <a:custGeom>
            <a:avLst/>
            <a:gdLst/>
            <a:ahLst/>
            <a:cxnLst/>
            <a:rect l="l" t="t" r="r" b="b"/>
            <a:pathLst>
              <a:path w="1905000" h="1016000">
                <a:moveTo>
                  <a:pt x="1905000" y="946150"/>
                </a:moveTo>
                <a:arcTo hR="69850" wR="69850" stAng="0" swAng="5400000"/>
                <a:lnTo>
                  <a:pt x="69850" y="1016000"/>
                </a:lnTo>
                <a:arcTo hR="69850" wR="69850" stAng="5400000" swAng="5400000"/>
                <a:lnTo>
                  <a:pt x="0" y="0"/>
                </a:lnTo>
                <a:lnTo>
                  <a:pt x="1905000" y="0"/>
                </a:lnTo>
                <a:close/>
              </a:path>
            </a:pathLst>
          </a:custGeom>
          <a:solidFill>
            <a:srgbClr val="E4E2DA"/>
          </a:solidFill>
          <a:ln/>
        </p:spPr>
      </p:sp>
      <p:sp>
        <p:nvSpPr>
          <p:cNvPr id="18" name="Text 16"/>
          <p:cNvSpPr/>
          <p:nvPr/>
        </p:nvSpPr>
        <p:spPr>
          <a:xfrm>
            <a:off x="9156700" y="219323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Карта релевантности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56700" y="2444651"/>
            <a:ext cx="22891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документ оказался выше других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9775" y="3396555"/>
            <a:ext cx="19113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  <a:effectLst>
            <a:outerShdw sx="100000" sy="100000" kx="0" ky="0" algn="bl" rotWithShape="0" blurRad="152400" dist="50800" dir="5400000">
              <a:srgbClr val="161A2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92950" y="3399730"/>
            <a:ext cx="1905000" cy="165100"/>
          </a:xfrm>
          <a:custGeom>
            <a:avLst/>
            <a:gdLst/>
            <a:ahLst/>
            <a:cxnLst/>
            <a:rect l="l" t="t" r="r" b="b"/>
            <a:pathLst>
              <a:path w="1905000" h="165100">
                <a:moveTo>
                  <a:pt x="0" y="69850"/>
                </a:moveTo>
                <a:arcTo hR="69850" wR="69850" stAng="10800000" swAng="5400000"/>
                <a:lnTo>
                  <a:pt x="1835150" y="0"/>
                </a:lnTo>
                <a:arcTo hR="69850" wR="69850" stAng="16200000" swAng="5400000"/>
                <a:lnTo>
                  <a:pt x="1905000" y="165100"/>
                </a:lnTo>
                <a:lnTo>
                  <a:pt x="0" y="165100"/>
                </a:lnTo>
                <a:close/>
              </a:path>
            </a:pathLst>
          </a:custGeom>
          <a:solidFill>
            <a:srgbClr val="ECEBE5"/>
          </a:solidFill>
          <a:ln/>
        </p:spPr>
      </p:sp>
      <p:sp>
        <p:nvSpPr>
          <p:cNvPr id="22" name="Shape 20"/>
          <p:cNvSpPr/>
          <p:nvPr/>
        </p:nvSpPr>
        <p:spPr>
          <a:xfrm>
            <a:off x="7169150" y="3450530"/>
            <a:ext cx="63500" cy="635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0750" y="3450530"/>
            <a:ext cx="63500" cy="635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72350" y="3450530"/>
            <a:ext cx="63500" cy="63500"/>
          </a:xfrm>
          <a:prstGeom prst="roundRect">
            <a:avLst>
              <a:gd name="adj" fmla="val 50000"/>
            </a:avLst>
          </a:prstGeom>
          <a:solidFill>
            <a:srgbClr val="5FB36A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2950" y="3564830"/>
            <a:ext cx="1905000" cy="1016000"/>
          </a:xfrm>
          <a:custGeom>
            <a:avLst/>
            <a:gdLst/>
            <a:ahLst/>
            <a:cxnLst/>
            <a:rect l="l" t="t" r="r" b="b"/>
            <a:pathLst>
              <a:path w="1905000" h="1016000">
                <a:moveTo>
                  <a:pt x="1905000" y="946150"/>
                </a:moveTo>
                <a:arcTo hR="69850" wR="69850" stAng="0" swAng="5400000"/>
                <a:lnTo>
                  <a:pt x="69850" y="1016000"/>
                </a:lnTo>
                <a:arcTo hR="69850" wR="69850" stAng="5400000" swAng="5400000"/>
                <a:lnTo>
                  <a:pt x="0" y="0"/>
                </a:lnTo>
                <a:lnTo>
                  <a:pt x="1905000" y="0"/>
                </a:lnTo>
                <a:close/>
              </a:path>
            </a:pathLst>
          </a:custGeom>
          <a:solidFill>
            <a:srgbClr val="E4E2DA"/>
          </a:solidFill>
          <a:ln/>
        </p:spPr>
      </p:sp>
      <p:sp>
        <p:nvSpPr>
          <p:cNvPr id="26" name="Text 24"/>
          <p:cNvSpPr/>
          <p:nvPr/>
        </p:nvSpPr>
        <p:spPr>
          <a:xfrm>
            <a:off x="9156700" y="365125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 и версии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6700" y="3902670"/>
            <a:ext cx="22891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Открываю прошлые версии и возвращаюсь к нужной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89775" y="4854575"/>
            <a:ext cx="1911350" cy="1187450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 w="6350">
            <a:solidFill>
              <a:srgbClr val="DCDAD2"/>
            </a:solidFill>
            <a:prstDash val="solid"/>
          </a:ln>
          <a:effectLst>
            <a:outerShdw sx="100000" sy="100000" kx="0" ky="0" algn="bl" rotWithShape="0" blurRad="152400" dist="50800" dir="5400000">
              <a:srgbClr val="161A22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92950" y="4857750"/>
            <a:ext cx="1905000" cy="165100"/>
          </a:xfrm>
          <a:custGeom>
            <a:avLst/>
            <a:gdLst/>
            <a:ahLst/>
            <a:cxnLst/>
            <a:rect l="l" t="t" r="r" b="b"/>
            <a:pathLst>
              <a:path w="1905000" h="165100">
                <a:moveTo>
                  <a:pt x="0" y="69850"/>
                </a:moveTo>
                <a:arcTo hR="69850" wR="69850" stAng="10800000" swAng="5400000"/>
                <a:lnTo>
                  <a:pt x="1835150" y="0"/>
                </a:lnTo>
                <a:arcTo hR="69850" wR="69850" stAng="16200000" swAng="5400000"/>
                <a:lnTo>
                  <a:pt x="1905000" y="165100"/>
                </a:lnTo>
                <a:lnTo>
                  <a:pt x="0" y="165100"/>
                </a:lnTo>
                <a:close/>
              </a:path>
            </a:pathLst>
          </a:custGeom>
          <a:solidFill>
            <a:srgbClr val="ECEBE5"/>
          </a:solidFill>
          <a:ln/>
        </p:spPr>
      </p:sp>
      <p:sp>
        <p:nvSpPr>
          <p:cNvPr id="30" name="Shape 28"/>
          <p:cNvSpPr/>
          <p:nvPr/>
        </p:nvSpPr>
        <p:spPr>
          <a:xfrm>
            <a:off x="7169150" y="4908550"/>
            <a:ext cx="63500" cy="635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/>
        </p:spPr>
      </p:sp>
      <p:sp>
        <p:nvSpPr>
          <p:cNvPr id="31" name="Shape 29"/>
          <p:cNvSpPr/>
          <p:nvPr/>
        </p:nvSpPr>
        <p:spPr>
          <a:xfrm>
            <a:off x="7270750" y="4908550"/>
            <a:ext cx="63500" cy="63500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/>
        </p:spPr>
      </p:sp>
      <p:sp>
        <p:nvSpPr>
          <p:cNvPr id="32" name="Shape 30"/>
          <p:cNvSpPr/>
          <p:nvPr/>
        </p:nvSpPr>
        <p:spPr>
          <a:xfrm>
            <a:off x="7372350" y="4908550"/>
            <a:ext cx="63500" cy="63500"/>
          </a:xfrm>
          <a:prstGeom prst="roundRect">
            <a:avLst>
              <a:gd name="adj" fmla="val 50000"/>
            </a:avLst>
          </a:prstGeom>
          <a:solidFill>
            <a:srgbClr val="5FB36A"/>
          </a:solidFill>
          <a:ln/>
        </p:spPr>
      </p:sp>
      <p:sp>
        <p:nvSpPr>
          <p:cNvPr id="33" name="Shape 31"/>
          <p:cNvSpPr/>
          <p:nvPr/>
        </p:nvSpPr>
        <p:spPr>
          <a:xfrm>
            <a:off x="7092950" y="5022850"/>
            <a:ext cx="1905000" cy="1016000"/>
          </a:xfrm>
          <a:custGeom>
            <a:avLst/>
            <a:gdLst/>
            <a:ahLst/>
            <a:cxnLst/>
            <a:rect l="l" t="t" r="r" b="b"/>
            <a:pathLst>
              <a:path w="1905000" h="1016000">
                <a:moveTo>
                  <a:pt x="1905000" y="946150"/>
                </a:moveTo>
                <a:arcTo hR="69850" wR="69850" stAng="0" swAng="5400000"/>
                <a:lnTo>
                  <a:pt x="69850" y="1016000"/>
                </a:lnTo>
                <a:arcTo hR="69850" wR="69850" stAng="5400000" swAng="5400000"/>
                <a:lnTo>
                  <a:pt x="0" y="0"/>
                </a:lnTo>
                <a:lnTo>
                  <a:pt x="1905000" y="0"/>
                </a:lnTo>
                <a:close/>
              </a:path>
            </a:pathLst>
          </a:custGeom>
          <a:solidFill>
            <a:srgbClr val="E4E2DA"/>
          </a:solidFill>
          <a:ln/>
        </p:spPr>
      </p:sp>
      <p:sp>
        <p:nvSpPr>
          <p:cNvPr id="34" name="Text 32"/>
          <p:cNvSpPr/>
          <p:nvPr/>
        </p:nvSpPr>
        <p:spPr>
          <a:xfrm>
            <a:off x="9156700" y="510927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Импорт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56700" y="5360690"/>
            <a:ext cx="228917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Файл, папка или архив — индексация сама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АРХИТЕКТУРА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Архитектура на одной схеме</a:t>
            </a:r>
            <a:endParaRPr lang="en-US" sz="36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41500" y="3759200"/>
            <a:ext cx="419100" cy="1016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38500" y="3759200"/>
            <a:ext cx="419100" cy="1016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16500" y="2266950"/>
            <a:ext cx="736600" cy="133985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16500" y="3759200"/>
            <a:ext cx="736600" cy="101600"/>
          </a:xfrm>
          <a:prstGeom prst="rect">
            <a:avLst/>
          </a:prstGeom>
        </p:spPr>
      </p:pic>
      <p:pic>
        <p:nvPicPr>
          <p:cNvPr id="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16500" y="4013200"/>
            <a:ext cx="736600" cy="1339850"/>
          </a:xfrm>
          <a:prstGeom prst="rect">
            <a:avLst/>
          </a:prstGeom>
        </p:spPr>
      </p:pic>
      <p:pic>
        <p:nvPicPr>
          <p:cNvPr id="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39000" y="2266950"/>
            <a:ext cx="317500" cy="101600"/>
          </a:xfrm>
          <a:prstGeom prst="rect">
            <a:avLst/>
          </a:prstGeom>
        </p:spPr>
      </p:pic>
      <p:pic>
        <p:nvPicPr>
          <p:cNvPr id="10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4900" y="2266950"/>
            <a:ext cx="101600" cy="3086100"/>
          </a:xfrm>
          <a:prstGeom prst="rect">
            <a:avLst/>
          </a:prstGeom>
        </p:spPr>
      </p:pic>
      <p:pic>
        <p:nvPicPr>
          <p:cNvPr id="11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239000" y="5251450"/>
            <a:ext cx="317500" cy="101600"/>
          </a:xfrm>
          <a:prstGeom prst="rect">
            <a:avLst/>
          </a:prstGeom>
        </p:spPr>
      </p:pic>
      <p:sp>
        <p:nvSpPr>
          <p:cNvPr id="12" name="Shape 2"/>
          <p:cNvSpPr/>
          <p:nvPr/>
        </p:nvSpPr>
        <p:spPr>
          <a:xfrm>
            <a:off x="819150" y="3467100"/>
            <a:ext cx="10668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CCD2"/>
            </a:solidFill>
            <a:prstDash val="solid"/>
          </a:ln>
        </p:spPr>
      </p:sp>
      <p:pic>
        <p:nvPicPr>
          <p:cNvPr id="13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225550" y="3557290"/>
            <a:ext cx="254000" cy="2540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977741" y="3849390"/>
            <a:ext cx="7496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Браузер</a:t>
            </a:r>
            <a:endParaRPr lang="en-US" sz="1200" dirty="0"/>
          </a:p>
        </p:txBody>
      </p:sp>
      <p:sp>
        <p:nvSpPr>
          <p:cNvPr id="15" name="Shape 4"/>
          <p:cNvSpPr/>
          <p:nvPr/>
        </p:nvSpPr>
        <p:spPr>
          <a:xfrm>
            <a:off x="2216150" y="3467100"/>
            <a:ext cx="10668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CCD2"/>
            </a:solidFill>
            <a:prstDash val="solid"/>
          </a:ln>
        </p:spPr>
      </p:sp>
      <p:pic>
        <p:nvPicPr>
          <p:cNvPr id="16" name="Image 9" descr="Glob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2622550" y="3557290"/>
            <a:ext cx="254000" cy="25400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2502495" y="3849390"/>
            <a:ext cx="4941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nginx</a:t>
            </a:r>
            <a:endParaRPr lang="en-US" sz="1200" dirty="0"/>
          </a:p>
        </p:txBody>
      </p:sp>
      <p:sp>
        <p:nvSpPr>
          <p:cNvPr id="18" name="Shape 6"/>
          <p:cNvSpPr/>
          <p:nvPr/>
        </p:nvSpPr>
        <p:spPr>
          <a:xfrm>
            <a:off x="3606800" y="3206750"/>
            <a:ext cx="1460500" cy="1206500"/>
          </a:xfrm>
          <a:prstGeom prst="roundRect">
            <a:avLst>
              <a:gd name="adj" fmla="val 10526"/>
            </a:avLst>
          </a:prstGeom>
          <a:solidFill>
            <a:srgbClr val="2A5BD7"/>
          </a:solidFill>
          <a:ln/>
          <a:effectLst>
            <a:outerShdw sx="100000" sy="100000" kx="0" ky="0" algn="bl" rotWithShape="0" blurRad="254000" dist="101600" dir="5400000">
              <a:srgbClr val="2A5BD7">
                <a:alpha val="30000"/>
              </a:srgbClr>
            </a:outerShdw>
          </a:effectLst>
        </p:spPr>
      </p:sp>
      <p:pic>
        <p:nvPicPr>
          <p:cNvPr id="19" name="Image 10" descr="Code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184650" y="3375720"/>
            <a:ext cx="304800" cy="30480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3729484" y="3731320"/>
            <a:ext cx="12150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21" name="Text 8"/>
          <p:cNvSpPr/>
          <p:nvPr/>
        </p:nvSpPr>
        <p:spPr>
          <a:xfrm>
            <a:off x="3769003" y="4030960"/>
            <a:ext cx="11360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5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веб-клиент</a:t>
            </a:r>
            <a:endParaRPr lang="en-US" sz="1200" dirty="0"/>
          </a:p>
        </p:txBody>
      </p:sp>
      <p:sp>
        <p:nvSpPr>
          <p:cNvPr id="22" name="Shape 9"/>
          <p:cNvSpPr/>
          <p:nvPr/>
        </p:nvSpPr>
        <p:spPr>
          <a:xfrm>
            <a:off x="5711825" y="1978025"/>
            <a:ext cx="1568450" cy="679450"/>
          </a:xfrm>
          <a:prstGeom prst="roundRect">
            <a:avLst>
              <a:gd name="adj" fmla="val 13551"/>
            </a:avLst>
          </a:prstGeom>
          <a:solidFill>
            <a:srgbClr val="FFFFFF"/>
          </a:solidFill>
          <a:ln w="19050">
            <a:solidFill>
              <a:srgbClr val="2A5BD7"/>
            </a:solidFill>
            <a:prstDash val="solid"/>
          </a:ln>
        </p:spPr>
      </p:sp>
      <p:pic>
        <p:nvPicPr>
          <p:cNvPr id="23" name="Image 11" descr="Database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800030" y="2178050"/>
            <a:ext cx="279400" cy="279400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6168330" y="2193330"/>
            <a:ext cx="107453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5" name="Shape 11"/>
          <p:cNvSpPr/>
          <p:nvPr/>
        </p:nvSpPr>
        <p:spPr>
          <a:xfrm>
            <a:off x="5708650" y="3467100"/>
            <a:ext cx="15748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CCD2"/>
            </a:solidFill>
            <a:prstDash val="solid"/>
          </a:ln>
        </p:spPr>
      </p:sp>
      <p:pic>
        <p:nvPicPr>
          <p:cNvPr id="26" name="Image 12" descr="Lightni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071691" y="3670300"/>
            <a:ext cx="279400" cy="279400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6439991" y="3685580"/>
            <a:ext cx="57638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Redis</a:t>
            </a:r>
            <a:endParaRPr lang="en-US" sz="1400" dirty="0"/>
          </a:p>
        </p:txBody>
      </p:sp>
      <p:sp>
        <p:nvSpPr>
          <p:cNvPr id="28" name="Shape 13"/>
          <p:cNvSpPr/>
          <p:nvPr/>
        </p:nvSpPr>
        <p:spPr>
          <a:xfrm>
            <a:off x="5708650" y="4959350"/>
            <a:ext cx="157480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CCD2"/>
            </a:solidFill>
            <a:prstDash val="solid"/>
          </a:ln>
        </p:spPr>
      </p:sp>
      <p:pic>
        <p:nvPicPr>
          <p:cNvPr id="29" name="Image 13" descr="Search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998468" y="5162550"/>
            <a:ext cx="279400" cy="2794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6366768" y="5177830"/>
            <a:ext cx="7522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Lucene</a:t>
            </a:r>
            <a:endParaRPr lang="en-US" sz="1400" dirty="0"/>
          </a:p>
        </p:txBody>
      </p:sp>
      <p:sp>
        <p:nvSpPr>
          <p:cNvPr id="31" name="Text 15"/>
          <p:cNvSpPr/>
          <p:nvPr/>
        </p:nvSpPr>
        <p:spPr>
          <a:xfrm rot="5400000">
            <a:off x="6677025" y="3670300"/>
            <a:ext cx="196215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004"/>
              </a:lnSpc>
              <a:buNone/>
            </a:pPr>
            <a:r>
              <a:rPr lang="en-US" sz="1200" dirty="0">
                <a:solidFill>
                  <a:srgbClr val="2A5B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пересборка индекса</a:t>
            </a:r>
            <a:endParaRPr lang="en-US" sz="1200" dirty="0"/>
          </a:p>
        </p:txBody>
      </p:sp>
      <p:sp>
        <p:nvSpPr>
          <p:cNvPr id="32" name="Shape 16"/>
          <p:cNvSpPr/>
          <p:nvPr/>
        </p:nvSpPr>
        <p:spPr>
          <a:xfrm>
            <a:off x="8229600" y="19685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33" name="Image 14" descr="Database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8305800" y="2044700"/>
            <a:ext cx="203200" cy="20320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8712200" y="196850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Источник истины</a:t>
            </a:r>
            <a:endParaRPr lang="en-US" sz="1400" dirty="0"/>
          </a:p>
        </p:txBody>
      </p:sp>
      <p:sp>
        <p:nvSpPr>
          <p:cNvPr id="35" name="Text 18"/>
          <p:cNvSpPr/>
          <p:nvPr/>
        </p:nvSpPr>
        <p:spPr>
          <a:xfrm>
            <a:off x="8712200" y="2219920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 хранит документы и все версии</a:t>
            </a:r>
            <a:endParaRPr lang="en-US" sz="1200" dirty="0"/>
          </a:p>
        </p:txBody>
      </p:sp>
      <p:sp>
        <p:nvSpPr>
          <p:cNvPr id="36" name="Shape 19"/>
          <p:cNvSpPr/>
          <p:nvPr/>
        </p:nvSpPr>
        <p:spPr>
          <a:xfrm>
            <a:off x="8229600" y="2988766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37" name="Image 15" descr="Search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305800" y="3064966"/>
            <a:ext cx="203200" cy="203200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8712200" y="2988766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</a:t>
            </a:r>
            <a:endParaRPr lang="en-US" sz="1400" dirty="0"/>
          </a:p>
        </p:txBody>
      </p:sp>
      <p:sp>
        <p:nvSpPr>
          <p:cNvPr id="39" name="Text 21"/>
          <p:cNvSpPr/>
          <p:nvPr/>
        </p:nvSpPr>
        <p:spPr>
          <a:xfrm>
            <a:off x="8712200" y="3240187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Lucene; при потере индекс пересобирается из базы</a:t>
            </a:r>
            <a:endParaRPr lang="en-US" sz="1200" dirty="0"/>
          </a:p>
        </p:txBody>
      </p:sp>
      <p:sp>
        <p:nvSpPr>
          <p:cNvPr id="40" name="Shape 22"/>
          <p:cNvSpPr/>
          <p:nvPr/>
        </p:nvSpPr>
        <p:spPr>
          <a:xfrm>
            <a:off x="8229600" y="4008934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E6EBF8"/>
          </a:solidFill>
          <a:ln/>
        </p:spPr>
      </p:sp>
      <p:pic>
        <p:nvPicPr>
          <p:cNvPr id="41" name="Image 16" descr="Lightni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305800" y="4085134"/>
            <a:ext cx="203200" cy="20320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8712200" y="400893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Скорость</a:t>
            </a:r>
            <a:endParaRPr lang="en-US" sz="1400" dirty="0"/>
          </a:p>
        </p:txBody>
      </p:sp>
      <p:sp>
        <p:nvSpPr>
          <p:cNvPr id="43" name="Text 24"/>
          <p:cNvSpPr/>
          <p:nvPr/>
        </p:nvSpPr>
        <p:spPr>
          <a:xfrm>
            <a:off x="8712200" y="426035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Redis ускоряет повторные запросы</a:t>
            </a:r>
            <a:endParaRPr lang="en-US" sz="1200" dirty="0"/>
          </a:p>
        </p:txBody>
      </p:sp>
      <p:sp>
        <p:nvSpPr>
          <p:cNvPr id="44" name="Shape 25"/>
          <p:cNvSpPr/>
          <p:nvPr/>
        </p:nvSpPr>
        <p:spPr>
          <a:xfrm>
            <a:off x="8229600" y="4815880"/>
            <a:ext cx="3149600" cy="835620"/>
          </a:xfrm>
          <a:prstGeom prst="roundRect">
            <a:avLst>
              <a:gd name="adj" fmla="val 10639"/>
            </a:avLst>
          </a:prstGeom>
          <a:solidFill>
            <a:srgbClr val="161A22"/>
          </a:solidFill>
          <a:ln/>
        </p:spPr>
      </p:sp>
      <p:sp>
        <p:nvSpPr>
          <p:cNvPr id="45" name="Text 26"/>
          <p:cNvSpPr/>
          <p:nvPr/>
        </p:nvSpPr>
        <p:spPr>
          <a:xfrm>
            <a:off x="8432800" y="4968280"/>
            <a:ext cx="2825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F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</a:t>
            </a:r>
            <a:r>
              <a:rPr lang="en-US" sz="1500" dirty="0">
                <a:solidFill>
                  <a:srgbClr val="EEF0F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docker compose up</a:t>
            </a:r>
            <a:endParaRPr lang="en-US" sz="1500" dirty="0"/>
          </a:p>
        </p:txBody>
      </p:sp>
      <p:sp>
        <p:nvSpPr>
          <p:cNvPr id="46" name="Text 27"/>
          <p:cNvSpPr/>
          <p:nvPr/>
        </p:nvSpPr>
        <p:spPr>
          <a:xfrm>
            <a:off x="8432800" y="5285780"/>
            <a:ext cx="2825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3AA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Весь стек — одной командой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РЕЛЕВАНТНОСТЬ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сервис решает, что релевантнее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110978"/>
            <a:ext cx="559866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Чем чаще в документе встречается </a:t>
            </a:r>
            <a:r>
              <a:rPr lang="en-US" sz="2000" b="1" dirty="0">
                <a:solidFill>
                  <a:srgbClr val="2A5B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редкое</a:t>
            </a:r>
            <a:r>
              <a:rPr lang="en-US" sz="20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слово и чем документ </a:t>
            </a:r>
            <a:r>
              <a:rPr lang="en-US" sz="2000" b="1" dirty="0">
                <a:solidFill>
                  <a:srgbClr val="2A5B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короче</a:t>
            </a:r>
            <a:r>
              <a:rPr lang="en-US" sz="20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тем он выше.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5975" y="3373735"/>
            <a:ext cx="5429250" cy="819051"/>
          </a:xfrm>
          <a:prstGeom prst="roundRect">
            <a:avLst>
              <a:gd name="adj" fmla="val 12017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3529310"/>
            <a:ext cx="51669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## Индекс Lucene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2350" y="3806130"/>
            <a:ext cx="516699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</a:t>
            </a:r>
            <a:r>
              <a:rPr lang="en-US" sz="1300" b="1" dirty="0">
                <a:solidFill>
                  <a:srgbClr val="B55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индекс</a:t>
            </a: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строится по актуальной версии документа…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56375" y="2114153"/>
            <a:ext cx="4819650" cy="2078633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3550" y="2345928"/>
            <a:ext cx="4434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47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Вес слова зависит от того, где оно стоит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13550" y="2660848"/>
            <a:ext cx="1130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заголовок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20050" y="2690019"/>
            <a:ext cx="2540000" cy="190500"/>
          </a:xfrm>
          <a:prstGeom prst="roundRect">
            <a:avLst>
              <a:gd name="adj" fmla="val 26667"/>
            </a:avLst>
          </a:prstGeom>
          <a:solidFill>
            <a:srgbClr val="2A5BD7"/>
          </a:solidFill>
          <a:ln/>
        </p:spPr>
      </p:sp>
      <p:sp>
        <p:nvSpPr>
          <p:cNvPr id="12" name="Text 10"/>
          <p:cNvSpPr/>
          <p:nvPr/>
        </p:nvSpPr>
        <p:spPr>
          <a:xfrm>
            <a:off x="10687050" y="2660848"/>
            <a:ext cx="2642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×3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3550" y="3011289"/>
            <a:ext cx="1130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теги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20050" y="3040459"/>
            <a:ext cx="1695450" cy="190500"/>
          </a:xfrm>
          <a:prstGeom prst="roundRect">
            <a:avLst>
              <a:gd name="adj" fmla="val 26667"/>
            </a:avLst>
          </a:prstGeom>
          <a:solidFill>
            <a:srgbClr val="2A5BD7"/>
          </a:solidFill>
          <a:ln/>
        </p:spPr>
      </p:sp>
      <p:sp>
        <p:nvSpPr>
          <p:cNvPr id="15" name="Text 13"/>
          <p:cNvSpPr/>
          <p:nvPr/>
        </p:nvSpPr>
        <p:spPr>
          <a:xfrm>
            <a:off x="9842500" y="3011289"/>
            <a:ext cx="2642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×2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3550" y="3361730"/>
            <a:ext cx="1130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текст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20050" y="3390900"/>
            <a:ext cx="844550" cy="190500"/>
          </a:xfrm>
          <a:prstGeom prst="roundRect">
            <a:avLst>
              <a:gd name="adj" fmla="val 26667"/>
            </a:avLst>
          </a:prstGeom>
          <a:solidFill>
            <a:srgbClr val="2A5BD7"/>
          </a:solidFill>
          <a:ln/>
        </p:spPr>
      </p:sp>
      <p:sp>
        <p:nvSpPr>
          <p:cNvPr id="18" name="Text 16"/>
          <p:cNvSpPr/>
          <p:nvPr/>
        </p:nvSpPr>
        <p:spPr>
          <a:xfrm>
            <a:off x="8991600" y="3361730"/>
            <a:ext cx="2642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×1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3550" y="3712170"/>
            <a:ext cx="1130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0050" y="3741341"/>
            <a:ext cx="425450" cy="190500"/>
          </a:xfrm>
          <a:prstGeom prst="roundRect">
            <a:avLst>
              <a:gd name="adj" fmla="val 26667"/>
            </a:avLst>
          </a:prstGeom>
          <a:solidFill>
            <a:srgbClr val="2A5BD7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3712170"/>
            <a:ext cx="51208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×0,5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5975" y="4679553"/>
            <a:ext cx="2524125" cy="136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2350" y="4860528"/>
            <a:ext cx="21747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BM25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2350" y="5167809"/>
            <a:ext cx="21747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умолчанию; учитывает длину документа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98850" y="4679553"/>
            <a:ext cx="2524125" cy="136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5225" y="4860528"/>
            <a:ext cx="21747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TF-IDF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05225" y="5167809"/>
            <a:ext cx="21747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Классика: частота × редкость слова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8550" y="4676378"/>
            <a:ext cx="2517775" cy="1368822"/>
          </a:xfrm>
          <a:prstGeom prst="roundRect">
            <a:avLst>
              <a:gd name="adj" fmla="val 7422"/>
            </a:avLst>
          </a:prstGeom>
          <a:solidFill>
            <a:srgbClr val="2A5BD7"/>
          </a:solidFill>
          <a:ln/>
        </p:spPr>
      </p:sp>
      <p:sp>
        <p:nvSpPr>
          <p:cNvPr id="29" name="Text 27"/>
          <p:cNvSpPr/>
          <p:nvPr/>
        </p:nvSpPr>
        <p:spPr>
          <a:xfrm>
            <a:off x="6381750" y="4854178"/>
            <a:ext cx="21747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Гибрид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0" y="5174159"/>
            <a:ext cx="1477963" cy="101600"/>
          </a:xfrm>
          <a:custGeom>
            <a:avLst/>
            <a:gdLst/>
            <a:ahLst/>
            <a:cxnLst/>
            <a:rect l="l" t="t" r="r" b="b"/>
            <a:pathLst>
              <a:path w="1477963" h="101600">
                <a:moveTo>
                  <a:pt x="0" y="50800"/>
                </a:moveTo>
                <a:arcTo hR="50800" wR="50800" stAng="10800000" swAng="5400000"/>
                <a:lnTo>
                  <a:pt x="1477963" y="0"/>
                </a:lnTo>
                <a:lnTo>
                  <a:pt x="1477963" y="101600"/>
                </a:lnTo>
                <a:lnTo>
                  <a:pt x="50800" y="101600"/>
                </a:lnTo>
                <a:arcTo hR="50800" wR="50800" stAng="54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859713" y="5174159"/>
            <a:ext cx="633413" cy="101600"/>
          </a:xfrm>
          <a:custGeom>
            <a:avLst/>
            <a:gdLst/>
            <a:ahLst/>
            <a:cxnLst/>
            <a:rect l="l" t="t" r="r" b="b"/>
            <a:pathLst>
              <a:path w="633413" h="101600">
                <a:moveTo>
                  <a:pt x="582613" y="0"/>
                </a:moveTo>
                <a:arcTo hR="50800" wR="50800" stAng="16200000" swAng="5400000"/>
                <a:lnTo>
                  <a:pt x="633413" y="50800"/>
                </a:lnTo>
                <a:arcTo hR="50800" wR="50800" stAng="0" swAng="5400000"/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FFD84D"/>
          </a:solidFill>
          <a:ln/>
        </p:spPr>
      </p:sp>
      <p:sp>
        <p:nvSpPr>
          <p:cNvPr id="32" name="Text 30"/>
          <p:cNvSpPr/>
          <p:nvPr/>
        </p:nvSpPr>
        <p:spPr>
          <a:xfrm>
            <a:off x="6381750" y="5351959"/>
            <a:ext cx="217471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70% BM25 + 30% TF-IDF; веса настраиваются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51900" y="4679553"/>
            <a:ext cx="2524125" cy="1362472"/>
          </a:xfrm>
          <a:prstGeom prst="roundRect">
            <a:avLst>
              <a:gd name="adj" fmla="val 7224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8275" y="4860528"/>
            <a:ext cx="21747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Расширяемо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8275" y="5167809"/>
            <a:ext cx="2174716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Новый метод — без переделки остального кода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7FA6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· СКОРОСТЬ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EEF0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Быстро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39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pic>
        <p:nvPicPr>
          <p:cNvPr id="5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1700" y="2485529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2904629"/>
            <a:ext cx="334873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spc="-100" kern="0" dirty="0">
                <a:solidFill>
                  <a:srgbClr val="7FA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7,8 с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812800" y="3900289"/>
            <a:ext cx="33487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A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индексация 5000 документов (19,4 МБ), ≈640 док/с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70400" y="239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9300" y="248552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0400" y="2904629"/>
            <a:ext cx="334873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spc="-100" kern="0" dirty="0">
                <a:solidFill>
                  <a:srgbClr val="7FA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≈1 мс</a:t>
            </a:r>
            <a:endParaRPr lang="en-US" sz="6400" dirty="0"/>
          </a:p>
        </p:txBody>
      </p:sp>
      <p:sp>
        <p:nvSpPr>
          <p:cNvPr id="11" name="Text 7"/>
          <p:cNvSpPr/>
          <p:nvPr/>
        </p:nvSpPr>
        <p:spPr>
          <a:xfrm>
            <a:off x="4470400" y="3900289"/>
            <a:ext cx="33487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A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поиск по индексу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28000" y="2396629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262F45"/>
          </a:solidFill>
          <a:ln/>
        </p:spPr>
      </p:sp>
      <p:pic>
        <p:nvPicPr>
          <p:cNvPr id="13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6900" y="2485529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28000" y="2904629"/>
            <a:ext cx="3348736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40"/>
              </a:lnSpc>
              <a:buNone/>
            </a:pPr>
            <a:r>
              <a:rPr lang="en-US" sz="6400" b="1" spc="-100" kern="0" dirty="0">
                <a:solidFill>
                  <a:srgbClr val="7FA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267 мс</a:t>
            </a:r>
            <a:endParaRPr lang="en-US" sz="6400" dirty="0"/>
          </a:p>
        </p:txBody>
      </p:sp>
      <p:sp>
        <p:nvSpPr>
          <p:cNvPr id="15" name="Text 10"/>
          <p:cNvSpPr/>
          <p:nvPr/>
        </p:nvSpPr>
        <p:spPr>
          <a:xfrm>
            <a:off x="8128000" y="3900289"/>
            <a:ext cx="334873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A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первый полный запрос через API, с прогревом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5975" y="5167114"/>
            <a:ext cx="10560050" cy="874911"/>
          </a:xfrm>
          <a:prstGeom prst="roundRect">
            <a:avLst>
              <a:gd name="adj" fmla="val 11250"/>
            </a:avLst>
          </a:prstGeom>
          <a:noFill/>
          <a:ln w="6350">
            <a:solidFill>
              <a:srgbClr val="3A425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73150" y="5403949"/>
            <a:ext cx="1914029" cy="401241"/>
          </a:xfrm>
          <a:prstGeom prst="roundRect">
            <a:avLst>
              <a:gd name="adj" fmla="val 50000"/>
            </a:avLst>
          </a:prstGeom>
          <a:solidFill>
            <a:srgbClr val="262C3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0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Повторный запрос</a:t>
            </a:r>
            <a:endParaRPr lang="en-US" sz="1400" dirty="0"/>
          </a:p>
        </p:txBody>
      </p:sp>
      <p:pic>
        <p:nvPicPr>
          <p:cNvPr id="1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55429" y="5566470"/>
            <a:ext cx="520700" cy="76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44379" y="5403949"/>
            <a:ext cx="1146175" cy="401241"/>
          </a:xfrm>
          <a:prstGeom prst="roundRect">
            <a:avLst>
              <a:gd name="adj" fmla="val 50000"/>
            </a:avLst>
          </a:prstGeom>
          <a:solidFill>
            <a:srgbClr val="7FA6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1A2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Кэш Redis</a:t>
            </a:r>
            <a:endParaRPr lang="en-US" sz="1400" dirty="0"/>
          </a:p>
        </p:txBody>
      </p:sp>
      <p:pic>
        <p:nvPicPr>
          <p:cNvPr id="20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58804" y="5566470"/>
            <a:ext cx="520700" cy="76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47754" y="5403949"/>
            <a:ext cx="1785243" cy="401241"/>
          </a:xfrm>
          <a:prstGeom prst="roundRect">
            <a:avLst>
              <a:gd name="adj" fmla="val 50000"/>
            </a:avLst>
          </a:prstGeom>
          <a:solidFill>
            <a:srgbClr val="262C3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EF0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Ответ без поиска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816850" y="5373489"/>
            <a:ext cx="34010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AD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 изменился — связанные записи кэша сбрасываются автоматически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· НАДЁЖНОСТЬ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Надёжность и качество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536"/>
            <a:ext cx="3380284" cy="410348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8550" y="22211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6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00150" y="2322711"/>
            <a:ext cx="2540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8550" y="2779911"/>
            <a:ext cx="289958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Версии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8550" y="3155752"/>
            <a:ext cx="289958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Каждая правка — новая версия; можно вернуться к любой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98550" y="52667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9CCD2"/>
          </a:solidFill>
          <a:ln/>
        </p:spPr>
      </p:sp>
      <p:sp>
        <p:nvSpPr>
          <p:cNvPr id="10" name="Shape 7"/>
          <p:cNvSpPr/>
          <p:nvPr/>
        </p:nvSpPr>
        <p:spPr>
          <a:xfrm>
            <a:off x="1250950" y="5333405"/>
            <a:ext cx="1153517" cy="19050"/>
          </a:xfrm>
          <a:prstGeom prst="rect">
            <a:avLst/>
          </a:prstGeom>
          <a:solidFill>
            <a:srgbClr val="C9CCD2"/>
          </a:solidFill>
          <a:ln/>
        </p:spPr>
      </p:sp>
      <p:sp>
        <p:nvSpPr>
          <p:cNvPr id="11" name="Shape 8"/>
          <p:cNvSpPr/>
          <p:nvPr/>
        </p:nvSpPr>
        <p:spPr>
          <a:xfrm>
            <a:off x="2404467" y="526673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9CCD2"/>
          </a:solidFill>
          <a:ln/>
        </p:spPr>
      </p:sp>
      <p:sp>
        <p:nvSpPr>
          <p:cNvPr id="12" name="Shape 9"/>
          <p:cNvSpPr/>
          <p:nvPr/>
        </p:nvSpPr>
        <p:spPr>
          <a:xfrm>
            <a:off x="2556867" y="5333405"/>
            <a:ext cx="1153616" cy="19050"/>
          </a:xfrm>
          <a:prstGeom prst="rect">
            <a:avLst/>
          </a:prstGeom>
          <a:solidFill>
            <a:srgbClr val="C9CCD2"/>
          </a:solidFill>
          <a:ln/>
        </p:spPr>
      </p:sp>
      <p:sp>
        <p:nvSpPr>
          <p:cNvPr id="13" name="Shape 10"/>
          <p:cNvSpPr/>
          <p:nvPr/>
        </p:nvSpPr>
        <p:spPr>
          <a:xfrm>
            <a:off x="3710484" y="524133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2A5BD7"/>
          </a:solidFill>
          <a:ln/>
        </p:spPr>
      </p:sp>
      <p:sp>
        <p:nvSpPr>
          <p:cNvPr id="14" name="Text 11"/>
          <p:cNvSpPr/>
          <p:nvPr/>
        </p:nvSpPr>
        <p:spPr>
          <a:xfrm>
            <a:off x="1098550" y="554613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4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14687" y="554613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4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679924" y="554613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05809" y="1938536"/>
            <a:ext cx="3380383" cy="410348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8384" y="22211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19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89984" y="2322711"/>
            <a:ext cx="254000" cy="2540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88384" y="2779911"/>
            <a:ext cx="289969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Изоляция данных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688384" y="3155752"/>
            <a:ext cx="289969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Вход по JWT; каждый видит только свои документы, поиск и кэш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688384" y="5104209"/>
            <a:ext cx="2815233" cy="655241"/>
          </a:xfrm>
          <a:prstGeom prst="roundRect">
            <a:avLst>
              <a:gd name="adj" fmla="val 9691"/>
            </a:avLst>
          </a:prstGeom>
          <a:solidFill>
            <a:srgbClr val="F1EFE8"/>
          </a:solidFill>
          <a:ln/>
        </p:spPr>
      </p:sp>
      <p:sp>
        <p:nvSpPr>
          <p:cNvPr id="23" name="Text 19"/>
          <p:cNvSpPr/>
          <p:nvPr/>
        </p:nvSpPr>
        <p:spPr>
          <a:xfrm>
            <a:off x="4815384" y="5205809"/>
            <a:ext cx="263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D64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Authorization: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15384" y="5444530"/>
            <a:ext cx="263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Bearer eyJhbGci…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995741" y="1938536"/>
            <a:ext cx="3380284" cy="4103489"/>
          </a:xfrm>
          <a:prstGeom prst="roundRect">
            <a:avLst>
              <a:gd name="adj" fmla="val 2912"/>
            </a:avLst>
          </a:prstGeom>
          <a:solidFill>
            <a:srgbClr val="FFFFFF"/>
          </a:solidFill>
          <a:ln w="6350">
            <a:solidFill>
              <a:srgbClr val="E2E0D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78316" y="222111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EBF8"/>
          </a:solidFill>
          <a:ln/>
        </p:spPr>
      </p:sp>
      <p:pic>
        <p:nvPicPr>
          <p:cNvPr id="27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79916" y="2322711"/>
            <a:ext cx="254000" cy="2540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78316" y="2779911"/>
            <a:ext cx="289958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Тесты</a:t>
            </a:r>
            <a:endParaRPr lang="en-US" sz="1800" dirty="0"/>
          </a:p>
        </p:txBody>
      </p:sp>
      <p:pic>
        <p:nvPicPr>
          <p:cNvPr id="29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78316" y="3155752"/>
            <a:ext cx="203200" cy="203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570416" y="3155752"/>
            <a:ext cx="25987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Unit: разбор Markdown, токенизация, скоринг</a:t>
            </a:r>
            <a:endParaRPr lang="en-US" sz="1300" dirty="0"/>
          </a:p>
        </p:txBody>
      </p:sp>
      <p:pic>
        <p:nvPicPr>
          <p:cNvPr id="31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78316" y="3719512"/>
            <a:ext cx="203200" cy="203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70416" y="3719512"/>
            <a:ext cx="25987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Интеграционные на реальных PostgreSQL и Redis</a:t>
            </a:r>
            <a:endParaRPr lang="en-US" sz="1300" dirty="0"/>
          </a:p>
        </p:txBody>
      </p:sp>
      <p:pic>
        <p:nvPicPr>
          <p:cNvPr id="33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78316" y="4283273"/>
            <a:ext cx="203200" cy="203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70416" y="4283273"/>
            <a:ext cx="25987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Замер производительности</a:t>
            </a:r>
            <a:endParaRPr lang="en-US" sz="1300" dirty="0"/>
          </a:p>
        </p:txBody>
      </p:sp>
      <p:pic>
        <p:nvPicPr>
          <p:cNvPr id="35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78316" y="4615954"/>
            <a:ext cx="203200" cy="203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570416" y="4615954"/>
            <a:ext cx="25987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Интерфейс проверен вручную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 · РАЗВИТИЕ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Ограничения и развитие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4301034" cy="4109839"/>
          </a:xfrm>
          <a:prstGeom prst="roundRect">
            <a:avLst>
              <a:gd name="adj" fmla="val 3090"/>
            </a:avLst>
          </a:prstGeom>
          <a:solidFill>
            <a:srgbClr val="EBE9E1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40161"/>
            <a:ext cx="38021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5D64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СЕЙЧАС</a:t>
            </a:r>
            <a:endParaRPr lang="en-US" sz="1400" dirty="0"/>
          </a:p>
        </p:txBody>
      </p:sp>
      <p:pic>
        <p:nvPicPr>
          <p:cNvPr id="6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692202"/>
            <a:ext cx="279400" cy="279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4000" y="2692202"/>
            <a:ext cx="33835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экземпляр сервиса: индекс Lucene лежит на диске</a:t>
            </a:r>
            <a:endParaRPr lang="en-US" sz="1500" dirty="0"/>
          </a:p>
        </p:txBody>
      </p:sp>
      <p:pic>
        <p:nvPicPr>
          <p:cNvPr id="8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7600" y="3428802"/>
            <a:ext cx="279400" cy="27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4000" y="3428802"/>
            <a:ext cx="338358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Доступ — владелец и ссылки на просмотр или правку</a:t>
            </a:r>
            <a:endParaRPr lang="en-US" sz="15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17034" y="3837880"/>
            <a:ext cx="609600" cy="304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136184" y="1941711"/>
            <a:ext cx="5236666" cy="4097139"/>
          </a:xfrm>
          <a:prstGeom prst="roundRect">
            <a:avLst>
              <a:gd name="adj" fmla="val 2945"/>
            </a:avLst>
          </a:prstGeom>
          <a:solidFill>
            <a:srgbClr val="FFFFFF"/>
          </a:solidFill>
          <a:ln w="12700">
            <a:solidFill>
              <a:srgbClr val="2A5BD7"/>
            </a:solidFill>
            <a:prstDash val="solid"/>
          </a:ln>
          <a:effectLst>
            <a:outerShdw sx="100000" sy="100000" kx="0" ky="0" algn="bl" rotWithShape="0" blurRad="254000" dist="76200" dir="5400000">
              <a:srgbClr val="2A5BD7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6447334" y="2252861"/>
            <a:ext cx="47527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ДАЛЬШЕ</a:t>
            </a:r>
            <a:endParaRPr lang="en-US" sz="1400" dirty="0"/>
          </a:p>
        </p:txBody>
      </p:sp>
      <p:pic>
        <p:nvPicPr>
          <p:cNvPr id="13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47334" y="2704902"/>
            <a:ext cx="279400" cy="279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3734" y="2704902"/>
            <a:ext cx="43342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Команды и общие пространства поверх шаринга по ссылке</a:t>
            </a:r>
            <a:endParaRPr lang="en-US" sz="1500" dirty="0"/>
          </a:p>
        </p:txBody>
      </p:sp>
      <p:pic>
        <p:nvPicPr>
          <p:cNvPr id="15" name="Image 4" descr="Clou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47334" y="3441502"/>
            <a:ext cx="279400" cy="279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3734" y="3441502"/>
            <a:ext cx="43342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Масштабирование поиска: Elasticsearch / OpenSearch</a:t>
            </a:r>
            <a:endParaRPr lang="en-US" sz="1500" dirty="0"/>
          </a:p>
        </p:txBody>
      </p:sp>
      <p:pic>
        <p:nvPicPr>
          <p:cNvPr id="17" name="Image 5" descr="Activit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47334" y="4178102"/>
            <a:ext cx="279400" cy="279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853734" y="4178102"/>
            <a:ext cx="433420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Оценка качества поиска на эталонном корпусе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5B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24620" y="254000"/>
            <a:ext cx="235458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FFFFFF">
                    <a:alpha val="8000"/>
                  </a:srgbClr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DCE5F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· ИТОГИ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12800" y="288161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01700" y="297051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881610"/>
            <a:ext cx="465683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Выполнено по ТЗ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3232051"/>
            <a:ext cx="465683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Обязательная часть и дополнительные пункты: несколько методов скоринга, гибрид, JWT, веб-клиент, шаринг по ссылке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99200" y="288161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10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8100" y="297051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0" y="2881610"/>
            <a:ext cx="465683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Документация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58000" y="3232051"/>
            <a:ext cx="46568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3EAF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Репозиторий, README, OpenAPI, System Design, описание алгоритмов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800" y="5283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FD84D"/>
          </a:solidFill>
          <a:ln/>
          <a:effectLst>
            <a:outerShdw sx="100000" sy="100000" kx="0" ky="0" algn="bl" rotWithShape="0" blurRad="254000" dist="101600" dir="54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3300" y="547370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03400" y="5412780"/>
            <a:ext cx="413051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Дальше — демо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Wiki">
  <a:themeElements>
    <a:clrScheme name="Data Wiki">
      <a:dk1>
        <a:srgbClr val="1B1F27"/>
      </a:dk1>
      <a:lt1>
        <a:srgbClr val="F5F4EF"/>
      </a:lt1>
      <a:dk2>
        <a:srgbClr val="525459"/>
      </a:dk2>
      <a:lt2>
        <a:srgbClr val="DFDFDB"/>
      </a:lt2>
      <a:accent1>
        <a:srgbClr val="2A5BD7"/>
      </a:accent1>
      <a:accent2>
        <a:srgbClr val="7FA6FF"/>
      </a:accent2>
      <a:accent3>
        <a:srgbClr val="E06C5A"/>
      </a:accent3>
      <a:accent4>
        <a:srgbClr val="E8B04A"/>
      </a:accent4>
      <a:accent5>
        <a:srgbClr val="5FB36A"/>
      </a:accent5>
      <a:accent6>
        <a:srgbClr val="FFD84D"/>
      </a:accent6>
      <a:hlink>
        <a:srgbClr val="0563C1"/>
      </a:hlink>
      <a:folHlink>
        <a:srgbClr val="954F72"/>
      </a:folHlink>
    </a:clrScheme>
    <a:fontScheme name="Data Wiki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Wiki</dc:title>
  <dc:subject/>
  <dc:creator/>
  <cp:lastModifiedBy/>
  <cp:revision>1</cp:revision>
  <dcterms:created xsi:type="dcterms:W3CDTF">2026-10-07T09:42:57Z</dcterms:created>
  <dcterms:modified xsi:type="dcterms:W3CDTF">2026-10-07T09:42:57Z</dcterms:modified>
</cp:coreProperties>
</file>